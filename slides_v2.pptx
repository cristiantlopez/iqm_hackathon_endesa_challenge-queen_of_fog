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1" r:id="rId5"/>
    <p:sldId id="262" r:id="rId6"/>
    <p:sldId id="264" r:id="rId7"/>
    <p:sldId id="263" r:id="rId8"/>
    <p:sldId id="260" r:id="rId9"/>
    <p:sldId id="259" r:id="rId10"/>
    <p:sldId id="265" r:id="rId11"/>
    <p:sldId id="267" r:id="rId12"/>
    <p:sldId id="266" r:id="rId13"/>
  </p:sldIdLst>
  <p:sldSz cx="12192000" cy="6858000"/>
  <p:notesSz cx="6858000" cy="9144000"/>
  <p:embeddedFontLs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Medium" panose="020B0604020202020204" charset="0"/>
      <p:regular r:id="rId19"/>
      <p:bold r:id="rId20"/>
      <p:italic r:id="rId21"/>
      <p:boldItalic r:id="rId22"/>
    </p:embeddedFont>
    <p:embeddedFont>
      <p:font typeface="Play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hBYdUjnBS8W8YTn886O4cN20zM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76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05c13414c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b05c13414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05c13414c_0_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b05c13414c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29A3EB9D-13C7-8BD4-0747-ADDDD625C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>
            <a:extLst>
              <a:ext uri="{FF2B5EF4-FFF2-40B4-BE49-F238E27FC236}">
                <a16:creationId xmlns:a16="http://schemas.microsoft.com/office/drawing/2014/main" id="{F352910C-92AE-7C4B-C9B4-9DC28523F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>
            <a:extLst>
              <a:ext uri="{FF2B5EF4-FFF2-40B4-BE49-F238E27FC236}">
                <a16:creationId xmlns:a16="http://schemas.microsoft.com/office/drawing/2014/main" id="{71A8DC9D-49DC-9A0F-4E6D-A026ADED8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29115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A673EE52-2A8D-5CCF-A2D9-F81BCC593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>
            <a:extLst>
              <a:ext uri="{FF2B5EF4-FFF2-40B4-BE49-F238E27FC236}">
                <a16:creationId xmlns:a16="http://schemas.microsoft.com/office/drawing/2014/main" id="{FC908AA4-BBB1-2C63-9393-4749829411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>
            <a:extLst>
              <a:ext uri="{FF2B5EF4-FFF2-40B4-BE49-F238E27FC236}">
                <a16:creationId xmlns:a16="http://schemas.microsoft.com/office/drawing/2014/main" id="{7A8803B7-26AE-81C7-B08B-F026DD8BB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6591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00DF709-9768-DAF6-7EB6-2D5A4A78E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>
            <a:extLst>
              <a:ext uri="{FF2B5EF4-FFF2-40B4-BE49-F238E27FC236}">
                <a16:creationId xmlns:a16="http://schemas.microsoft.com/office/drawing/2014/main" id="{50FC976A-AE32-5B49-B0A1-258D9F3561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>
            <a:extLst>
              <a:ext uri="{FF2B5EF4-FFF2-40B4-BE49-F238E27FC236}">
                <a16:creationId xmlns:a16="http://schemas.microsoft.com/office/drawing/2014/main" id="{BB95E0FB-ADAC-0A52-84D8-A2464F8E3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2735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4082A30-82E3-9E7A-AB6A-E462CB64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>
            <a:extLst>
              <a:ext uri="{FF2B5EF4-FFF2-40B4-BE49-F238E27FC236}">
                <a16:creationId xmlns:a16="http://schemas.microsoft.com/office/drawing/2014/main" id="{12B3F77E-615B-B89B-0729-BCC9EF619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>
            <a:extLst>
              <a:ext uri="{FF2B5EF4-FFF2-40B4-BE49-F238E27FC236}">
                <a16:creationId xmlns:a16="http://schemas.microsoft.com/office/drawing/2014/main" id="{F6EC90E0-FC7F-41A5-F20D-5B7BA50CE5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0064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0B269C9-4905-63B6-D4DE-5181D2382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>
            <a:extLst>
              <a:ext uri="{FF2B5EF4-FFF2-40B4-BE49-F238E27FC236}">
                <a16:creationId xmlns:a16="http://schemas.microsoft.com/office/drawing/2014/main" id="{3F8114AC-8F01-2C8B-E7F6-2BC4EC3BBB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>
            <a:extLst>
              <a:ext uri="{FF2B5EF4-FFF2-40B4-BE49-F238E27FC236}">
                <a16:creationId xmlns:a16="http://schemas.microsoft.com/office/drawing/2014/main" id="{30D57BBF-F2F1-CEC0-BB37-AE0B3076B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0979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00" y="0"/>
            <a:ext cx="12192000" cy="3852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s-ES" sz="5400" u="sng" dirty="0">
                <a:latin typeface="Calibri"/>
                <a:ea typeface="Calibri"/>
                <a:cs typeface="Calibri"/>
                <a:sym typeface="Calibri"/>
              </a:rPr>
              <a:t>Endesa </a:t>
            </a:r>
            <a:r>
              <a:rPr lang="es-ES" sz="5400" u="sng" dirty="0" err="1">
                <a:latin typeface="Calibri"/>
                <a:ea typeface="Calibri"/>
                <a:cs typeface="Calibri"/>
                <a:sym typeface="Calibri"/>
              </a:rPr>
              <a:t>Challenge</a:t>
            </a:r>
            <a:r>
              <a:rPr lang="es-ES" sz="5400" u="sng" dirty="0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Joint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optimization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of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a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Battery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System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and a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Wind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Farm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40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hybrid</a:t>
            </a: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quantum+classical</a:t>
            </a: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 MILP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solver</a:t>
            </a:r>
            <a:endParaRPr sz="5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524000" y="3852976"/>
            <a:ext cx="91440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sz="3000"/>
              <a:t>Queen of fog</a:t>
            </a:r>
            <a:endParaRPr sz="30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/>
              <a:t>Cristian Tabares, Sergio Paniego, Jan Schneider,</a:t>
            </a:r>
            <a:br>
              <a:rPr lang="es-ES"/>
            </a:br>
            <a:br>
              <a:rPr lang="es-ES"/>
            </a:br>
            <a:r>
              <a:rPr lang="es-ES"/>
              <a:t>Joan Agustí, Yanis Le Fur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/>
              <a:t>14/12/2025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0" i="0" u="none" strike="noStrike" cap="none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 problem</a:t>
            </a:r>
            <a:endParaRPr sz="3600" b="0" i="0" u="none" strike="noStrike" cap="none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7500" y="1018625"/>
            <a:ext cx="12192000" cy="5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objective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maximize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u="sng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joint</a:t>
            </a:r>
            <a:r>
              <a:rPr lang="es-ES" sz="2200" b="0" u="sng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u="sng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revenue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farm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and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over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one-day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horizon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modeling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storage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system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(BESS).</a:t>
            </a: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data: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fixed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electricty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price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&amp;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stochastic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wind-production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forecasts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b="1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96" name="Google Shape;96;p2" title="output_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0463" y="4480846"/>
            <a:ext cx="5970637" cy="23861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8591100" y="5069275"/>
            <a:ext cx="36009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Expected revenue </a:t>
            </a:r>
            <a:b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from wind farm: 17.645 €</a:t>
            </a:r>
            <a:endParaRPr sz="2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8" name="Google Shape;98;p2" title="output_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146799"/>
            <a:ext cx="6284057" cy="238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title="output_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84056" y="2147012"/>
            <a:ext cx="5915448" cy="2333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Mixed-integer linear programs (MILP)</a:t>
            </a:r>
            <a:endParaRPr sz="3600" b="0" i="0" u="none" strike="noStrike" cap="none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5" name="Google Shape;10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275" y="3788431"/>
            <a:ext cx="3813327" cy="101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0750" y="2038125"/>
            <a:ext cx="6411249" cy="4210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7686600" y="63574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0" y="1149050"/>
            <a:ext cx="12192000" cy="7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 approach</a:t>
            </a:r>
            <a:r>
              <a:rPr lang="es-ES" sz="22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 problem can be formulated as a MILP because maximizing revenue required optimizing </a:t>
            </a:r>
            <a:r>
              <a:rPr lang="es-ES" sz="2100" u="sng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continuous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power flows while following strict </a:t>
            </a:r>
            <a:r>
              <a:rPr lang="es-ES" sz="2100" u="sng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discrete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binary decisions.</a:t>
            </a:r>
            <a:endParaRPr sz="1300"/>
          </a:p>
        </p:txBody>
      </p:sp>
      <p:sp>
        <p:nvSpPr>
          <p:cNvPr id="109" name="Google Shape;109;p3"/>
          <p:cNvSpPr txBox="1"/>
          <p:nvPr/>
        </p:nvSpPr>
        <p:spPr>
          <a:xfrm>
            <a:off x="417525" y="3298043"/>
            <a:ext cx="45054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Continuous variable constraint:</a:t>
            </a:r>
            <a:endParaRPr sz="200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534675" y="4981356"/>
            <a:ext cx="42711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Discrete variable </a:t>
            </a:r>
            <a:r>
              <a:rPr lang="es-ES" sz="20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</a:t>
            </a:r>
            <a:r>
              <a:rPr lang="es-ES" sz="20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sz="20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111" name="Google Shape;111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6875" y="2664877"/>
            <a:ext cx="4966396" cy="584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 txBox="1"/>
          <p:nvPr/>
        </p:nvSpPr>
        <p:spPr>
          <a:xfrm>
            <a:off x="417525" y="2102875"/>
            <a:ext cx="45054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Expected revenue to maximize:</a:t>
            </a:r>
            <a:endParaRPr sz="200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113" name="Google Shape;113;p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8269" y="5471725"/>
            <a:ext cx="3272006" cy="101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05c13414c_0_5"/>
          <p:cNvSpPr txBox="1">
            <a:spLocks noGrp="1"/>
          </p:cNvSpPr>
          <p:nvPr>
            <p:ph type="body" idx="1"/>
          </p:nvPr>
        </p:nvSpPr>
        <p:spPr>
          <a:xfrm>
            <a:off x="0" y="1277925"/>
            <a:ext cx="12192000" cy="55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Motivation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(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time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steps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batteries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etc.),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total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space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 MILP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massive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and usual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approaches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Warm-Starting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provide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solver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Discrete Variables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By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quantum-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obtained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transform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exploration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one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ocused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rapid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exploitation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unlocking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faster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higher-quality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large-scale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b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1" name="Google Shape;141;g3b05c13414c_0_5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endParaRPr lang="es-ES" sz="3600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2" name="Google Shape;142;g3b05c13414c_0_5" title="im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75" y="3439622"/>
            <a:ext cx="3966399" cy="1804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3b05c13414c_0_5" title="rect30045-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48865" y="3408146"/>
            <a:ext cx="2013225" cy="164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3b05c13414c_0_5"/>
          <p:cNvSpPr/>
          <p:nvPr/>
        </p:nvSpPr>
        <p:spPr>
          <a:xfrm>
            <a:off x="4085852" y="3753150"/>
            <a:ext cx="1479600" cy="345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b05c13414c_0_5"/>
          <p:cNvSpPr txBox="1"/>
          <p:nvPr/>
        </p:nvSpPr>
        <p:spPr>
          <a:xfrm>
            <a:off x="4021875" y="3085950"/>
            <a:ext cx="16269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chemeClr val="dk1"/>
                </a:solidFill>
              </a:rPr>
              <a:t>    Quantum Warm-Starting</a:t>
            </a:r>
            <a:endParaRPr sz="1500" b="1">
              <a:solidFill>
                <a:schemeClr val="dk1"/>
              </a:solidFill>
            </a:endParaRPr>
          </a:p>
        </p:txBody>
      </p:sp>
      <p:sp>
        <p:nvSpPr>
          <p:cNvPr id="147" name="Google Shape;147;g3b05c13414c_0_5"/>
          <p:cNvSpPr txBox="1"/>
          <p:nvPr/>
        </p:nvSpPr>
        <p:spPr>
          <a:xfrm>
            <a:off x="5970827" y="367368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Classical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48" name="Google Shape;148;g3b05c13414c_0_5"/>
          <p:cNvSpPr txBox="1"/>
          <p:nvPr/>
        </p:nvSpPr>
        <p:spPr>
          <a:xfrm>
            <a:off x="962652" y="308593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Quantum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49" name="Google Shape;149;g3b05c13414c_0_5"/>
          <p:cNvSpPr txBox="1"/>
          <p:nvPr/>
        </p:nvSpPr>
        <p:spPr>
          <a:xfrm>
            <a:off x="9629593" y="3415650"/>
            <a:ext cx="1866300" cy="10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 err="1">
                <a:solidFill>
                  <a:schemeClr val="dk1"/>
                </a:solidFill>
              </a:rPr>
              <a:t>Efficient</a:t>
            </a:r>
            <a:r>
              <a:rPr lang="es-ES" sz="3000" b="1" dirty="0">
                <a:solidFill>
                  <a:schemeClr val="dk1"/>
                </a:solidFill>
              </a:rPr>
              <a:t> </a:t>
            </a:r>
            <a:r>
              <a:rPr lang="es-ES" sz="3000" b="1" dirty="0" err="1">
                <a:solidFill>
                  <a:schemeClr val="dk1"/>
                </a:solidFill>
              </a:rPr>
              <a:t>solution</a:t>
            </a:r>
            <a:endParaRPr sz="3000" b="1" dirty="0">
              <a:solidFill>
                <a:schemeClr val="dk1"/>
              </a:solidFill>
            </a:endParaRPr>
          </a:p>
        </p:txBody>
      </p:sp>
      <p:sp>
        <p:nvSpPr>
          <p:cNvPr id="2" name="Google Shape;159;g3b05c13414c_0_73">
            <a:extLst>
              <a:ext uri="{FF2B5EF4-FFF2-40B4-BE49-F238E27FC236}">
                <a16:creationId xmlns:a16="http://schemas.microsoft.com/office/drawing/2014/main" id="{EA95C1E4-2E27-CDFE-6D3F-283F12C9BF73}"/>
              </a:ext>
            </a:extLst>
          </p:cNvPr>
          <p:cNvSpPr/>
          <p:nvPr/>
        </p:nvSpPr>
        <p:spPr>
          <a:xfrm>
            <a:off x="7855852" y="3673688"/>
            <a:ext cx="907451" cy="42446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B3FAA0E1-72B1-5F2D-D2B2-CC59865D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303" y="2874714"/>
            <a:ext cx="3351780" cy="2175482"/>
          </a:xfrm>
          <a:prstGeom prst="rect">
            <a:avLst/>
          </a:prstGeom>
        </p:spPr>
      </p:pic>
      <p:sp>
        <p:nvSpPr>
          <p:cNvPr id="154" name="Google Shape;154;g3b05c13414c_0_73"/>
          <p:cNvSpPr txBox="1">
            <a:spLocks noGrp="1"/>
          </p:cNvSpPr>
          <p:nvPr>
            <p:ph type="body" idx="1"/>
          </p:nvPr>
        </p:nvSpPr>
        <p:spPr>
          <a:xfrm>
            <a:off x="0" y="1277925"/>
            <a:ext cx="12192000" cy="55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Motivation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(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time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steps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batteries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etc.),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total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space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 MILP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massive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and usual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approaches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Warm-Starting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provide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solver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Discrete Variables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By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quantum-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obtained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transform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exploration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one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ocused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rapid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exploitation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unlocking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faster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higher-quality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large-scale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b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g3b05c13414c_0_73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endParaRPr lang="es-ES" sz="3600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6" name="Google Shape;156;g3b05c13414c_0_73" title="imag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475" y="3439622"/>
            <a:ext cx="3966399" cy="1804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3b05c13414c_0_73" title="rect30045-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8865" y="3408146"/>
            <a:ext cx="2013225" cy="164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b05c13414c_0_73"/>
          <p:cNvSpPr/>
          <p:nvPr/>
        </p:nvSpPr>
        <p:spPr>
          <a:xfrm>
            <a:off x="4085852" y="3753150"/>
            <a:ext cx="1479600" cy="345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3b05c13414c_0_73"/>
          <p:cNvSpPr/>
          <p:nvPr/>
        </p:nvSpPr>
        <p:spPr>
          <a:xfrm>
            <a:off x="7855852" y="3673688"/>
            <a:ext cx="907451" cy="42446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3b05c13414c_0_73"/>
          <p:cNvSpPr txBox="1"/>
          <p:nvPr/>
        </p:nvSpPr>
        <p:spPr>
          <a:xfrm>
            <a:off x="5970827" y="367368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Classical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61" name="Google Shape;161;g3b05c13414c_0_73"/>
          <p:cNvSpPr txBox="1"/>
          <p:nvPr/>
        </p:nvSpPr>
        <p:spPr>
          <a:xfrm>
            <a:off x="962652" y="308593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Quantum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62" name="Google Shape;162;g3b05c13414c_0_73"/>
          <p:cNvSpPr txBox="1"/>
          <p:nvPr/>
        </p:nvSpPr>
        <p:spPr>
          <a:xfrm>
            <a:off x="4021875" y="3085950"/>
            <a:ext cx="16269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chemeClr val="dk1"/>
                </a:solidFill>
              </a:rPr>
              <a:t>    Quantum Warm-Starting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DDC831B2-CECA-BDF3-D99C-99EFB457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>
            <a:extLst>
              <a:ext uri="{FF2B5EF4-FFF2-40B4-BE49-F238E27FC236}">
                <a16:creationId xmlns:a16="http://schemas.microsoft.com/office/drawing/2014/main" id="{2EEAD5BA-87E0-F61D-675E-488EA37C3CF1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QAOA</a:t>
            </a:r>
          </a:p>
        </p:txBody>
      </p:sp>
      <p:sp>
        <p:nvSpPr>
          <p:cNvPr id="130" name="Google Shape;130;g3b05c13414c_0_27">
            <a:extLst>
              <a:ext uri="{FF2B5EF4-FFF2-40B4-BE49-F238E27FC236}">
                <a16:creationId xmlns:a16="http://schemas.microsoft.com/office/drawing/2014/main" id="{F498049D-ADE6-37F2-B16D-DA7D6F6FA1A7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sp>
        <p:nvSpPr>
          <p:cNvPr id="133" name="Google Shape;133;g3b05c13414c_0_27">
            <a:extLst>
              <a:ext uri="{FF2B5EF4-FFF2-40B4-BE49-F238E27FC236}">
                <a16:creationId xmlns:a16="http://schemas.microsoft.com/office/drawing/2014/main" id="{D3D4647A-62FD-E73A-E0F0-D3F1DA0BD356}"/>
              </a:ext>
            </a:extLst>
          </p:cNvPr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>
            <a:extLst>
              <a:ext uri="{FF2B5EF4-FFF2-40B4-BE49-F238E27FC236}">
                <a16:creationId xmlns:a16="http://schemas.microsoft.com/office/drawing/2014/main" id="{9D51764F-E433-B449-76F0-61B20FEC43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>
            <a:extLst>
              <a:ext uri="{FF2B5EF4-FFF2-40B4-BE49-F238E27FC236}">
                <a16:creationId xmlns:a16="http://schemas.microsoft.com/office/drawing/2014/main" id="{58C01A62-1C94-E9A0-916A-3DA4481BA72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A7E901F6-EEBD-7577-D2CD-BB2F4975F040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rewrite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simplified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version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QUBO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as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function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penalties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can be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recover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schedule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</p:txBody>
      </p:sp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270F4440-0A2E-2210-2CF5-F21F74359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950" y="4788276"/>
            <a:ext cx="4788146" cy="1987652"/>
          </a:xfrm>
          <a:prstGeom prst="rect">
            <a:avLst/>
          </a:prstGeom>
        </p:spPr>
      </p:pic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60EAA8DD-BA18-990E-4037-911BD8D0E2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5544" y="2069724"/>
            <a:ext cx="5411695" cy="314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4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F1454F28-D4A6-9E45-09F8-8F8D9CCB8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>
            <a:extLst>
              <a:ext uri="{FF2B5EF4-FFF2-40B4-BE49-F238E27FC236}">
                <a16:creationId xmlns:a16="http://schemas.microsoft.com/office/drawing/2014/main" id="{0AE201CE-1327-C8C9-E248-A512E38374AA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QAOA</a:t>
            </a:r>
          </a:p>
        </p:txBody>
      </p:sp>
      <p:sp>
        <p:nvSpPr>
          <p:cNvPr id="130" name="Google Shape;130;g3b05c13414c_0_27">
            <a:extLst>
              <a:ext uri="{FF2B5EF4-FFF2-40B4-BE49-F238E27FC236}">
                <a16:creationId xmlns:a16="http://schemas.microsoft.com/office/drawing/2014/main" id="{36A13D76-E8E6-D227-F68E-966A3EF710FE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pic>
        <p:nvPicPr>
          <p:cNvPr id="131" name="Google Shape;131;g3b05c13414c_0_27" title="Screenshot 2025-12-14 at 09.35.09.png">
            <a:extLst>
              <a:ext uri="{FF2B5EF4-FFF2-40B4-BE49-F238E27FC236}">
                <a16:creationId xmlns:a16="http://schemas.microsoft.com/office/drawing/2014/main" id="{31FD1F8E-F4AF-2B88-3C81-73639D3302A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3551" y="3206700"/>
            <a:ext cx="6605573" cy="3431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3b05c13414c_0_27">
            <a:extLst>
              <a:ext uri="{FF2B5EF4-FFF2-40B4-BE49-F238E27FC236}">
                <a16:creationId xmlns:a16="http://schemas.microsoft.com/office/drawing/2014/main" id="{7499C4AA-8B09-364D-1950-14D5B961A39B}"/>
              </a:ext>
            </a:extLst>
          </p:cNvPr>
          <p:cNvSpPr txBox="1"/>
          <p:nvPr/>
        </p:nvSpPr>
        <p:spPr>
          <a:xfrm>
            <a:off x="7449575" y="2793950"/>
            <a:ext cx="1503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practice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3" name="Google Shape;133;g3b05c13414c_0_27">
            <a:extLst>
              <a:ext uri="{FF2B5EF4-FFF2-40B4-BE49-F238E27FC236}">
                <a16:creationId xmlns:a16="http://schemas.microsoft.com/office/drawing/2014/main" id="{045F3AB0-3A11-889C-9BCA-51E0AE274F9D}"/>
              </a:ext>
            </a:extLst>
          </p:cNvPr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>
            <a:extLst>
              <a:ext uri="{FF2B5EF4-FFF2-40B4-BE49-F238E27FC236}">
                <a16:creationId xmlns:a16="http://schemas.microsoft.com/office/drawing/2014/main" id="{58052171-2DE8-848D-BF2B-40015D1E9E6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>
            <a:extLst>
              <a:ext uri="{FF2B5EF4-FFF2-40B4-BE49-F238E27FC236}">
                <a16:creationId xmlns:a16="http://schemas.microsoft.com/office/drawing/2014/main" id="{129233E5-5DCF-E972-2513-9BD61F5742A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88CD6EE6-16BF-C6A9-9349-3F1EA1B94CCE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rewrite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simplified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version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QUBO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as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function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penalties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can be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recover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schedule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93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/>
          <p:cNvSpPr txBox="1"/>
          <p:nvPr/>
        </p:nvSpPr>
        <p:spPr>
          <a:xfrm>
            <a:off x="3256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COIN-OR CBC</a:t>
            </a:r>
          </a:p>
        </p:txBody>
      </p:sp>
      <p:sp>
        <p:nvSpPr>
          <p:cNvPr id="130" name="Google Shape;130;g3b05c13414c_0_27"/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sp>
        <p:nvSpPr>
          <p:cNvPr id="133" name="Google Shape;133;g3b05c13414c_0_27"/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A2516A0F-7521-B9D0-92DA-41B9D5B25B13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After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full MILP (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constraints+objective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)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solvers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PuLP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package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Python.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dispatched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COIN-OR </a:t>
            </a:r>
            <a:r>
              <a:rPr lang="en-U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CBC algorithm, which solves it using a branch-and-cut approach (LP relaxations + branching + cuts) and returns the optimal schedule.</a:t>
            </a:r>
            <a:endParaRPr lang="es-ES" sz="18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4" name="Imagen 3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704CCE65-8625-34CF-18AF-404A3C12B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285" y="3018470"/>
            <a:ext cx="6523122" cy="3080578"/>
          </a:xfrm>
          <a:prstGeom prst="rect">
            <a:avLst/>
          </a:prstGeom>
        </p:spPr>
      </p:pic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6FBA18A-72A5-73B7-5EF8-09E3709B3539}"/>
              </a:ext>
            </a:extLst>
          </p:cNvPr>
          <p:cNvCxnSpPr>
            <a:cxnSpLocks/>
          </p:cNvCxnSpPr>
          <p:nvPr/>
        </p:nvCxnSpPr>
        <p:spPr>
          <a:xfrm flipH="1">
            <a:off x="8498433" y="2727275"/>
            <a:ext cx="283464" cy="54445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Google Shape;132;g3b05c13414c_0_27">
            <a:extLst>
              <a:ext uri="{FF2B5EF4-FFF2-40B4-BE49-F238E27FC236}">
                <a16:creationId xmlns:a16="http://schemas.microsoft.com/office/drawing/2014/main" id="{44EF9B2E-2471-50D1-9282-AF04FFA6D9E1}"/>
              </a:ext>
            </a:extLst>
          </p:cNvPr>
          <p:cNvSpPr txBox="1"/>
          <p:nvPr/>
        </p:nvSpPr>
        <p:spPr>
          <a:xfrm>
            <a:off x="8312970" y="2318300"/>
            <a:ext cx="1503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practice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/>
          <p:cNvSpPr txBox="1"/>
          <p:nvPr/>
        </p:nvSpPr>
        <p:spPr>
          <a:xfrm>
            <a:off x="23423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 more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realistic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formulation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of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problem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g3b05c13414c_0_0"/>
          <p:cNvSpPr txBox="1"/>
          <p:nvPr/>
        </p:nvSpPr>
        <p:spPr>
          <a:xfrm>
            <a:off x="105825" y="62895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0" name="Google Shape;120;g3b05c13414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1813" y="2615763"/>
            <a:ext cx="3182967" cy="71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g3b05c13414c_0_0"/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More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realistic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models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take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account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from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farm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such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as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variance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13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predictions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which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NOT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affect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previous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state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endParaRPr sz="1300" dirty="0"/>
          </a:p>
        </p:txBody>
      </p:sp>
      <p:pic>
        <p:nvPicPr>
          <p:cNvPr id="122" name="Google Shape;122;g3b05c13414c_0_0" title="output_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9250" y="2887609"/>
            <a:ext cx="6372751" cy="2763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g3b05c13414c_0_0" title="output_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3444732"/>
            <a:ext cx="5819249" cy="232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05c13414c_0_0"/>
          <p:cNvSpPr txBox="1"/>
          <p:nvPr/>
        </p:nvSpPr>
        <p:spPr>
          <a:xfrm>
            <a:off x="812650" y="2143063"/>
            <a:ext cx="39213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Set-point tracking problem (</a:t>
            </a:r>
            <a:r>
              <a:rPr lang="es-E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SPT)</a:t>
            </a:r>
            <a:endParaRPr sz="18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B1A804-457A-73DA-ED73-7981B1E1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>
            <a:extLst>
              <a:ext uri="{FF2B5EF4-FFF2-40B4-BE49-F238E27FC236}">
                <a16:creationId xmlns:a16="http://schemas.microsoft.com/office/drawing/2014/main" id="{2BDD4D48-8604-4C1A-6E93-F4991524B800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 more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realistic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formulation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of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problem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g3b05c13414c_0_0">
            <a:extLst>
              <a:ext uri="{FF2B5EF4-FFF2-40B4-BE49-F238E27FC236}">
                <a16:creationId xmlns:a16="http://schemas.microsoft.com/office/drawing/2014/main" id="{D04ADA8D-2D2B-2AE5-952C-99120646AF4A}"/>
              </a:ext>
            </a:extLst>
          </p:cNvPr>
          <p:cNvSpPr txBox="1"/>
          <p:nvPr/>
        </p:nvSpPr>
        <p:spPr>
          <a:xfrm>
            <a:off x="105825" y="62895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1" name="Google Shape;121;g3b05c13414c_0_0">
            <a:extLst>
              <a:ext uri="{FF2B5EF4-FFF2-40B4-BE49-F238E27FC236}">
                <a16:creationId xmlns:a16="http://schemas.microsoft.com/office/drawing/2014/main" id="{5B6268B6-E885-4648-FCA3-6FE183247853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More realistic models</a:t>
            </a:r>
            <a:r>
              <a:rPr lang="es-ES" sz="22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to take into account effects from the wind farm such as the variance of all 13 predictions, which did NOT affect the previous state of the battery</a:t>
            </a:r>
            <a:endParaRPr sz="1300"/>
          </a:p>
        </p:txBody>
      </p:sp>
      <p:pic>
        <p:nvPicPr>
          <p:cNvPr id="123" name="Google Shape;123;g3b05c13414c_0_0" title="output_7.png">
            <a:extLst>
              <a:ext uri="{FF2B5EF4-FFF2-40B4-BE49-F238E27FC236}">
                <a16:creationId xmlns:a16="http://schemas.microsoft.com/office/drawing/2014/main" id="{35A16DBF-B963-6EA4-94F7-F228B37ADF4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444732"/>
            <a:ext cx="5819249" cy="232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05c13414c_0_0">
            <a:extLst>
              <a:ext uri="{FF2B5EF4-FFF2-40B4-BE49-F238E27FC236}">
                <a16:creationId xmlns:a16="http://schemas.microsoft.com/office/drawing/2014/main" id="{46EE0EE3-508C-F62B-EF3C-1E349331D186}"/>
              </a:ext>
            </a:extLst>
          </p:cNvPr>
          <p:cNvSpPr txBox="1"/>
          <p:nvPr/>
        </p:nvSpPr>
        <p:spPr>
          <a:xfrm>
            <a:off x="812650" y="2143063"/>
            <a:ext cx="39213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Set-point tracking problem (</a:t>
            </a:r>
            <a:r>
              <a:rPr lang="es-E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SPT)</a:t>
            </a:r>
            <a:endParaRPr sz="18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" name="Imagen 2" descr="Gráfico&#10;&#10;El contenido generado por IA puede ser incorrecto.">
            <a:extLst>
              <a:ext uri="{FF2B5EF4-FFF2-40B4-BE49-F238E27FC236}">
                <a16:creationId xmlns:a16="http://schemas.microsoft.com/office/drawing/2014/main" id="{E36B5E95-C18D-ACC9-505E-48B18CB26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62472"/>
            <a:ext cx="5771516" cy="3780544"/>
          </a:xfrm>
          <a:prstGeom prst="rect">
            <a:avLst/>
          </a:prstGeom>
        </p:spPr>
      </p:pic>
      <p:pic>
        <p:nvPicPr>
          <p:cNvPr id="5" name="Imagen 4" descr="Texto, Esquemático&#10;&#10;El contenido generado por IA puede ser incorrecto.">
            <a:extLst>
              <a:ext uri="{FF2B5EF4-FFF2-40B4-BE49-F238E27FC236}">
                <a16:creationId xmlns:a16="http://schemas.microsoft.com/office/drawing/2014/main" id="{92850437-7776-D857-085A-A615DC455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984" y="2542894"/>
            <a:ext cx="2730640" cy="76838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137643-90D2-1124-5FA8-C243FB3708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0071" y="2715925"/>
            <a:ext cx="1496480" cy="368480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182FA1E2-000A-BCA4-1FA6-6BCF082467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950" y="2695962"/>
            <a:ext cx="1072800" cy="45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5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FB043B-EBC7-8B7E-EA40-92B11C72E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>
            <a:extLst>
              <a:ext uri="{FF2B5EF4-FFF2-40B4-BE49-F238E27FC236}">
                <a16:creationId xmlns:a16="http://schemas.microsoft.com/office/drawing/2014/main" id="{58888D3D-0C78-5543-6408-EBB726467D42}"/>
              </a:ext>
            </a:extLst>
          </p:cNvPr>
          <p:cNvSpPr txBox="1"/>
          <p:nvPr/>
        </p:nvSpPr>
        <p:spPr>
          <a:xfrm>
            <a:off x="91440" y="-11209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Our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final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deliverable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Google Shape;130;g3b05c13414c_0_27">
            <a:extLst>
              <a:ext uri="{FF2B5EF4-FFF2-40B4-BE49-F238E27FC236}">
                <a16:creationId xmlns:a16="http://schemas.microsoft.com/office/drawing/2014/main" id="{28912CE5-1395-5280-21D0-64B1BCEB5D95}"/>
              </a:ext>
            </a:extLst>
          </p:cNvPr>
          <p:cNvSpPr txBox="1"/>
          <p:nvPr/>
        </p:nvSpPr>
        <p:spPr>
          <a:xfrm>
            <a:off x="0" y="1149050"/>
            <a:ext cx="12192000" cy="10987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have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created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library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implementing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applying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farm+battery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joint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library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can be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used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reproduce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results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following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self-contained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tutorials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pic>
        <p:nvPicPr>
          <p:cNvPr id="8" name="Imagen 7" descr="Interfaz de usuario gráfica, Texto, Aplicación, Word, Correo electrónico&#10;&#10;El contenido generado por IA puede ser incorrecto.">
            <a:extLst>
              <a:ext uri="{FF2B5EF4-FFF2-40B4-BE49-F238E27FC236}">
                <a16:creationId xmlns:a16="http://schemas.microsoft.com/office/drawing/2014/main" id="{FCABD03A-1D8E-0933-6057-168438443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2106268"/>
            <a:ext cx="6240326" cy="4471214"/>
          </a:xfrm>
          <a:prstGeom prst="rect">
            <a:avLst/>
          </a:prstGeom>
        </p:spPr>
      </p:pic>
      <p:pic>
        <p:nvPicPr>
          <p:cNvPr id="11" name="Imagen 10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21E3444E-F630-AAE0-7AE0-686F4CCA6F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95" b="15037"/>
          <a:stretch>
            <a:fillRect/>
          </a:stretch>
        </p:blipFill>
        <p:spPr>
          <a:xfrm>
            <a:off x="6275240" y="3043314"/>
            <a:ext cx="5916760" cy="309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242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952FD53-4700-1147-B5BA-F3D9EBBF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>
            <a:extLst>
              <a:ext uri="{FF2B5EF4-FFF2-40B4-BE49-F238E27FC236}">
                <a16:creationId xmlns:a16="http://schemas.microsoft.com/office/drawing/2014/main" id="{E75C2CA1-69B7-2C1D-833E-15CD38E9F7C9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Conclusions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outlook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1" name="Google Shape;121;g3b05c13414c_0_0">
            <a:extLst>
              <a:ext uri="{FF2B5EF4-FFF2-40B4-BE49-F238E27FC236}">
                <a16:creationId xmlns:a16="http://schemas.microsoft.com/office/drawing/2014/main" id="{0358D1F5-FD2E-1DCC-DF39-4F5D4234E65D}"/>
              </a:ext>
            </a:extLst>
          </p:cNvPr>
          <p:cNvSpPr txBox="1"/>
          <p:nvPr/>
        </p:nvSpPr>
        <p:spPr>
          <a:xfrm>
            <a:off x="0" y="1149050"/>
            <a:ext cx="12192000" cy="5544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introduce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hybrid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quantum+classical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mixed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linear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integer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programming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that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leverages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quantum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computers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generate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guesses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part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implemented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QUBO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QAOA.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part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standard MILP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apply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jointly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and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farm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demonstrating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advantage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when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both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coupled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uncoupled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expected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give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superpolynomial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advantage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[S.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Boulebnane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and A. Montanaro, PRX Quantum 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5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030348 (2024)].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makes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approach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promising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when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scaling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bigger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Quantum error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mitigation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(QEM) and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correction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(QEC)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techniques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could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be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mitigate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current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hardware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noise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rates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300" dirty="0"/>
          </a:p>
        </p:txBody>
      </p:sp>
    </p:spTree>
    <p:extLst>
      <p:ext uri="{BB962C8B-B14F-4D97-AF65-F5344CB8AC3E}">
        <p14:creationId xmlns:p14="http://schemas.microsoft.com/office/powerpoint/2010/main" val="21932185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936</Words>
  <Application>Microsoft Office PowerPoint</Application>
  <PresentationFormat>Panorámica</PresentationFormat>
  <Paragraphs>98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Play</vt:lpstr>
      <vt:lpstr>Calibri</vt:lpstr>
      <vt:lpstr>Arial</vt:lpstr>
      <vt:lpstr>Open Sans Medium</vt:lpstr>
      <vt:lpstr>Open Sans</vt:lpstr>
      <vt:lpstr>Tema de Office</vt:lpstr>
      <vt:lpstr>Endesa Challenge:  Joint optimization of a  Battery System and a Wind Farm   A hybrid quantum+classical MILP solver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Cristian Tabares Lopez</dc:creator>
  <cp:lastModifiedBy>Cristian Tabares Lopez</cp:lastModifiedBy>
  <cp:revision>8</cp:revision>
  <dcterms:created xsi:type="dcterms:W3CDTF">2025-12-13T15:36:44Z</dcterms:created>
  <dcterms:modified xsi:type="dcterms:W3CDTF">2025-12-14T10:51:48Z</dcterms:modified>
</cp:coreProperties>
</file>