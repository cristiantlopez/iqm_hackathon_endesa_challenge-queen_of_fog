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BYdUjnBS8W8YTn886O4cN20zM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OpenSans-boldItalic.fntdata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slide" Target="slides/slide1.xml"/><Relationship Id="rId19" Type="http://schemas.openxmlformats.org/officeDocument/2006/relationships/font" Target="fonts/OpenSans-bold.fntdata"/><Relationship Id="rId6" Type="http://schemas.openxmlformats.org/officeDocument/2006/relationships/slide" Target="slides/slide2.xml"/><Relationship Id="rId18" Type="http://schemas.openxmlformats.org/officeDocument/2006/relationships/font" Target="fonts/Open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5c13414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05c13414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5c13414c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05c13414c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5c13414c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05c13414c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5c13414c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05c13414c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00" y="0"/>
            <a:ext cx="12192000" cy="33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s-ES" u="sng">
                <a:latin typeface="Calibri"/>
                <a:ea typeface="Calibri"/>
                <a:cs typeface="Calibri"/>
                <a:sym typeface="Calibri"/>
              </a:rPr>
              <a:t>Endesa Challenge: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s-ES">
                <a:latin typeface="Calibri"/>
                <a:ea typeface="Calibri"/>
                <a:cs typeface="Calibri"/>
                <a:sym typeface="Calibri"/>
              </a:rPr>
            </a:br>
            <a:r>
              <a:rPr lang="es-ES">
                <a:latin typeface="Calibri"/>
                <a:ea typeface="Calibri"/>
                <a:cs typeface="Calibri"/>
                <a:sym typeface="Calibri"/>
              </a:rPr>
              <a:t>Joint optimization of a </a:t>
            </a:r>
            <a:br>
              <a:rPr lang="es-ES">
                <a:latin typeface="Calibri"/>
                <a:ea typeface="Calibri"/>
                <a:cs typeface="Calibri"/>
                <a:sym typeface="Calibri"/>
              </a:rPr>
            </a:br>
            <a:r>
              <a:rPr lang="es-ES">
                <a:latin typeface="Calibri"/>
                <a:ea typeface="Calibri"/>
                <a:cs typeface="Calibri"/>
                <a:sym typeface="Calibri"/>
              </a:rPr>
              <a:t>Battery System and a Wind Farm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852976"/>
            <a:ext cx="91440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3000"/>
              <a:t>Queen of fog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Cristian Tabares, Sergio Paniego, Jan Schneider,</a:t>
            </a:r>
            <a:br>
              <a:rPr lang="es-ES"/>
            </a:br>
            <a:br>
              <a:rPr lang="es-ES"/>
            </a:br>
            <a:r>
              <a:rPr lang="es-ES"/>
              <a:t>Joan Agustí, Yanis Le Fur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14/12/2025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000" u="none" cap="none" strike="noStrike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The problem</a:t>
            </a:r>
            <a:endParaRPr b="0" i="0" sz="3600" u="none" cap="none" strike="noStrik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500" y="1018625"/>
            <a:ext cx="12192000" cy="58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objective</a:t>
            </a:r>
            <a:r>
              <a:rPr b="0" i="0" lang="es-ES" sz="22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maximize the </a:t>
            </a:r>
            <a:r>
              <a:rPr b="0" lang="es-ES" sz="2200" u="sng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joint revenue</a:t>
            </a:r>
            <a:r>
              <a:rPr b="0" i="0" lang="es-ES" sz="22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of a wind farm and a battery over a one-day horizon, 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modeling a battery energy storage system (BESS).</a:t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s-ES" sz="22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data:</a:t>
            </a:r>
            <a:r>
              <a:rPr b="0" i="0" lang="es-ES" sz="22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endParaRPr b="1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127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96" name="Google Shape;96;p2" title="output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463" y="4480846"/>
            <a:ext cx="5970637" cy="23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8591100" y="5069275"/>
            <a:ext cx="3600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Expected </a:t>
            </a: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revenue</a:t>
            </a: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from wind farm: 17.645 €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8" name="Google Shape;98;p2" title="output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46799"/>
            <a:ext cx="6284057" cy="23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title="output_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4056" y="2147012"/>
            <a:ext cx="5915448" cy="233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Mixed-integer linear programs (MILP)</a:t>
            </a:r>
            <a:endParaRPr b="0" i="0" sz="3600" u="none" cap="none" strike="noStrik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75" y="3788431"/>
            <a:ext cx="3813327" cy="10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750" y="2038125"/>
            <a:ext cx="6411249" cy="421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7686600" y="6357400"/>
            <a:ext cx="45054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Pozo, David. ‘Linear battery models for power systems analysis’. Electric Power Systems Research, 212 (2022)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0" y="1149050"/>
            <a:ext cx="12192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approach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problem can be formulated as a MILP because maximizing revenue 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required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optimizing </a:t>
            </a:r>
            <a:r>
              <a:rPr lang="es-ES" sz="2100" u="sng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continuous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power flows while following strict </a:t>
            </a:r>
            <a:r>
              <a:rPr lang="es-ES" sz="2100" u="sng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discrete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binary decisions.</a:t>
            </a:r>
            <a:endParaRPr sz="1300"/>
          </a:p>
        </p:txBody>
      </p:sp>
      <p:sp>
        <p:nvSpPr>
          <p:cNvPr id="109" name="Google Shape;109;p3"/>
          <p:cNvSpPr txBox="1"/>
          <p:nvPr/>
        </p:nvSpPr>
        <p:spPr>
          <a:xfrm>
            <a:off x="417525" y="3298043"/>
            <a:ext cx="4505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Continuous variable constraint:</a:t>
            </a:r>
            <a:endParaRPr sz="20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34675" y="4981356"/>
            <a:ext cx="42711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Discrete</a:t>
            </a: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variable constraint:</a:t>
            </a:r>
            <a:endParaRPr sz="20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875" y="2664877"/>
            <a:ext cx="4966396" cy="5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417525" y="2102875"/>
            <a:ext cx="45054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Expected revenue to maximize</a:t>
            </a: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  <a:endParaRPr sz="20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269" y="5471725"/>
            <a:ext cx="3272006" cy="10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5c13414c_0_0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Mixed-integer linear programs (MILP) </a:t>
            </a:r>
            <a:endParaRPr b="0" i="0" sz="3600" u="none" cap="none" strike="noStrik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g3b05c13414c_0_0"/>
          <p:cNvSpPr txBox="1"/>
          <p:nvPr/>
        </p:nvSpPr>
        <p:spPr>
          <a:xfrm>
            <a:off x="105825" y="6289500"/>
            <a:ext cx="45054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Pozo, David. ‘Linear battery models for power systems analysis’. Electric Power Systems Research, 212 (2022)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0" name="Google Shape;120;g3b05c13414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813" y="2615763"/>
            <a:ext cx="3182967" cy="71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b05c13414c_0_0"/>
          <p:cNvSpPr txBox="1"/>
          <p:nvPr/>
        </p:nvSpPr>
        <p:spPr>
          <a:xfrm>
            <a:off x="0" y="1149050"/>
            <a:ext cx="12192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More realistic models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take into account effects from the wind farm such as the variance of all 13 predictions, which did NOT affect the 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previous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state of the 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battery</a:t>
            </a:r>
            <a:endParaRPr sz="1300"/>
          </a:p>
        </p:txBody>
      </p:sp>
      <p:pic>
        <p:nvPicPr>
          <p:cNvPr id="122" name="Google Shape;122;g3b05c13414c_0_0" title="output_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9250" y="2887609"/>
            <a:ext cx="6372751" cy="276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b05c13414c_0_0" title="output_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444732"/>
            <a:ext cx="5819249" cy="2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05c13414c_0_0"/>
          <p:cNvSpPr txBox="1"/>
          <p:nvPr/>
        </p:nvSpPr>
        <p:spPr>
          <a:xfrm>
            <a:off x="812650" y="2143063"/>
            <a:ext cx="3921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Set-point tracking problem (</a:t>
            </a:r>
            <a:r>
              <a:rPr b="1" lang="es-E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SPT)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5c13414c_0_27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Quantum Approximate Optimization Algorithm (QAOA)</a:t>
            </a:r>
            <a:endParaRPr b="0" i="0" sz="3200" u="none" cap="none" strike="noStrik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g3b05c13414c_0_27"/>
          <p:cNvSpPr txBox="1"/>
          <p:nvPr/>
        </p:nvSpPr>
        <p:spPr>
          <a:xfrm>
            <a:off x="0" y="1149050"/>
            <a:ext cx="12192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proposal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QAOA is a algorithm to find near-optimal solutions for discrete optimization tasks. It uses quantum effects to explore complex spaces.</a:t>
            </a:r>
            <a:endParaRPr sz="1300"/>
          </a:p>
        </p:txBody>
      </p:sp>
      <p:pic>
        <p:nvPicPr>
          <p:cNvPr id="131" name="Google Shape;131;g3b05c13414c_0_27" title="Screenshot 2025-12-14 at 09.35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551" y="3206700"/>
            <a:ext cx="6605573" cy="34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b05c13414c_0_27"/>
          <p:cNvSpPr txBox="1"/>
          <p:nvPr/>
        </p:nvSpPr>
        <p:spPr>
          <a:xfrm>
            <a:off x="7449575" y="2793950"/>
            <a:ext cx="1503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 practice: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g3b05c13414c_0_27"/>
          <p:cNvSpPr txBox="1"/>
          <p:nvPr/>
        </p:nvSpPr>
        <p:spPr>
          <a:xfrm>
            <a:off x="306875" y="2481050"/>
            <a:ext cx="4407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seek to optimize two angles: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g3b05c13414c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150" y="2565350"/>
            <a:ext cx="6096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b05c13414c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500" y="3206700"/>
            <a:ext cx="4600658" cy="2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5c13414c_0_5"/>
          <p:cNvSpPr txBox="1"/>
          <p:nvPr>
            <p:ph idx="1" type="body"/>
          </p:nvPr>
        </p:nvSpPr>
        <p:spPr>
          <a:xfrm>
            <a:off x="0" y="1277925"/>
            <a:ext cx="12192000" cy="5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2200">
                <a:latin typeface="Open Sans"/>
                <a:ea typeface="Open Sans"/>
                <a:cs typeface="Open Sans"/>
                <a:sym typeface="Open Sans"/>
              </a:rPr>
              <a:t>Motivation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For large systems (many time steps, many batteries, complex 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constraints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, etc.), the total solution space for a MILP is massive and usual approaches are </a:t>
            </a:r>
            <a:r>
              <a:rPr lang="es-ES" sz="2200" u="sng">
                <a:latin typeface="Open Sans Medium"/>
                <a:ea typeface="Open Sans Medium"/>
                <a:cs typeface="Open Sans Medium"/>
                <a:sym typeface="Open Sans Medium"/>
              </a:rPr>
              <a:t>inefficient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2200">
                <a:latin typeface="Open Sans"/>
                <a:ea typeface="Open Sans"/>
                <a:cs typeface="Open Sans"/>
                <a:sym typeface="Open Sans"/>
              </a:rPr>
              <a:t>Solution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Quantum Warm-Starting. To provide the classical solver with an initial, high-quality guess for the Discrete Variables using a quantum algorithm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2200">
                <a:latin typeface="Open Sans"/>
                <a:ea typeface="Open Sans"/>
                <a:cs typeface="Open Sans"/>
                <a:sym typeface="Open Sans"/>
              </a:rPr>
              <a:t>Conclusion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By using the quantum-obtained guess, we transform a problem of 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inefficient exploration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 to one of f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ocused, rapid exploitation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, unlocking faster and higher-quality solution for large-scale energy systems.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g3b05c13414c_0_5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Hybrid quantum-classical algorithm</a:t>
            </a:r>
            <a:endParaRPr sz="4000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2" name="Google Shape;142;g3b05c13414c_0_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5" y="3439622"/>
            <a:ext cx="3966399" cy="180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b05c13414c_0_5" title="rect30045-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8865" y="3408146"/>
            <a:ext cx="2013225" cy="16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b05c13414c_0_5"/>
          <p:cNvSpPr/>
          <p:nvPr/>
        </p:nvSpPr>
        <p:spPr>
          <a:xfrm>
            <a:off x="4085852" y="3753150"/>
            <a:ext cx="14796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05c13414c_0_5"/>
          <p:cNvSpPr/>
          <p:nvPr/>
        </p:nvSpPr>
        <p:spPr>
          <a:xfrm>
            <a:off x="7855852" y="3753150"/>
            <a:ext cx="14796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05c13414c_0_5"/>
          <p:cNvSpPr txBox="1"/>
          <p:nvPr/>
        </p:nvSpPr>
        <p:spPr>
          <a:xfrm>
            <a:off x="4021875" y="3085950"/>
            <a:ext cx="16269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dk1"/>
                </a:solidFill>
              </a:rPr>
              <a:t>    Quantum Warm-Starting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47" name="Google Shape;147;g3b05c13414c_0_5"/>
          <p:cNvSpPr txBox="1"/>
          <p:nvPr/>
        </p:nvSpPr>
        <p:spPr>
          <a:xfrm>
            <a:off x="5970827" y="367368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dk1"/>
                </a:solidFill>
              </a:rPr>
              <a:t>Classical Simulation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48" name="Google Shape;148;g3b05c13414c_0_5"/>
          <p:cNvSpPr txBox="1"/>
          <p:nvPr/>
        </p:nvSpPr>
        <p:spPr>
          <a:xfrm>
            <a:off x="962652" y="308593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dk1"/>
                </a:solidFill>
              </a:rPr>
              <a:t>Quantum</a:t>
            </a:r>
            <a:r>
              <a:rPr b="1" lang="es-ES" sz="1700">
                <a:solidFill>
                  <a:schemeClr val="dk1"/>
                </a:solidFill>
              </a:rPr>
              <a:t> Simulation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49" name="Google Shape;149;g3b05c13414c_0_5"/>
          <p:cNvSpPr txBox="1"/>
          <p:nvPr/>
        </p:nvSpPr>
        <p:spPr>
          <a:xfrm>
            <a:off x="9620449" y="3529360"/>
            <a:ext cx="1866300" cy="1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000">
                <a:solidFill>
                  <a:schemeClr val="dk1"/>
                </a:solidFill>
              </a:rPr>
              <a:t>Efficient</a:t>
            </a:r>
            <a:r>
              <a:rPr b="1" lang="es-ES" sz="3000">
                <a:solidFill>
                  <a:schemeClr val="dk1"/>
                </a:solidFill>
              </a:rPr>
              <a:t> solution</a:t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5c13414c_0_73"/>
          <p:cNvSpPr txBox="1"/>
          <p:nvPr>
            <p:ph idx="1" type="body"/>
          </p:nvPr>
        </p:nvSpPr>
        <p:spPr>
          <a:xfrm>
            <a:off x="0" y="1277925"/>
            <a:ext cx="12192000" cy="55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2200">
                <a:latin typeface="Open Sans"/>
                <a:ea typeface="Open Sans"/>
                <a:cs typeface="Open Sans"/>
                <a:sym typeface="Open Sans"/>
              </a:rPr>
              <a:t>Motivation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For large systems (many time steps, many batteries, complex constraints, etc.), the total solution space for a MILP is massive and usual approaches are </a:t>
            </a:r>
            <a:r>
              <a:rPr lang="es-ES" sz="2200" u="sng">
                <a:latin typeface="Open Sans Medium"/>
                <a:ea typeface="Open Sans Medium"/>
                <a:cs typeface="Open Sans Medium"/>
                <a:sym typeface="Open Sans Medium"/>
              </a:rPr>
              <a:t>inefficient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2200">
                <a:latin typeface="Open Sans"/>
                <a:ea typeface="Open Sans"/>
                <a:cs typeface="Open Sans"/>
                <a:sym typeface="Open Sans"/>
              </a:rPr>
              <a:t>Solution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Quantum Warm-Starting. To provide the classical solver with an initial, high-quality guess for the Discrete Variables using a quantum algorithm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s-ES" sz="2200">
                <a:latin typeface="Open Sans"/>
                <a:ea typeface="Open Sans"/>
                <a:cs typeface="Open Sans"/>
                <a:sym typeface="Open Sans"/>
              </a:rPr>
              <a:t>Conclusion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By using the quantum-obtained guess, we transform a problem of 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inefficient exploration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 to one of f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ocused, rapid exploitation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, unlocking faster and higher-quality solution for large-scale energy systems.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g3b05c13414c_0_73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Hybrid quantum-classical algorithm</a:t>
            </a:r>
            <a:endParaRPr sz="4000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g3b05c13414c_0_73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5" y="3439622"/>
            <a:ext cx="3966399" cy="180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b05c13414c_0_73" title="rect30045-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8865" y="3408146"/>
            <a:ext cx="2013225" cy="16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b05c13414c_0_73"/>
          <p:cNvSpPr/>
          <p:nvPr/>
        </p:nvSpPr>
        <p:spPr>
          <a:xfrm>
            <a:off x="4085852" y="3753150"/>
            <a:ext cx="14796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05c13414c_0_73"/>
          <p:cNvSpPr/>
          <p:nvPr/>
        </p:nvSpPr>
        <p:spPr>
          <a:xfrm>
            <a:off x="7855852" y="3753150"/>
            <a:ext cx="1479600" cy="34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05c13414c_0_73"/>
          <p:cNvSpPr txBox="1"/>
          <p:nvPr/>
        </p:nvSpPr>
        <p:spPr>
          <a:xfrm>
            <a:off x="5970827" y="367368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dk1"/>
                </a:solidFill>
              </a:rPr>
              <a:t>Classical Simulation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61" name="Google Shape;161;g3b05c13414c_0_73"/>
          <p:cNvSpPr txBox="1"/>
          <p:nvPr/>
        </p:nvSpPr>
        <p:spPr>
          <a:xfrm>
            <a:off x="962652" y="308593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dk1"/>
                </a:solidFill>
              </a:rPr>
              <a:t>Quantum Simulation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62" name="Google Shape;162;g3b05c13414c_0_73"/>
          <p:cNvSpPr txBox="1"/>
          <p:nvPr/>
        </p:nvSpPr>
        <p:spPr>
          <a:xfrm>
            <a:off x="4021875" y="3085950"/>
            <a:ext cx="16269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dk1"/>
                </a:solidFill>
              </a:rPr>
              <a:t>    Quantum Warm-Starting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2025-12-13T15:36:44Z</dcterms:created>
  <dc:creator>Cristian Tabares Lopez</dc:creator>
</cp:coreProperties>
</file>